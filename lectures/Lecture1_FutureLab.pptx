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69" r:id="rId18"/>
    <p:sldId id="270" r:id="rId19"/>
    <p:sldId id="27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02"/>
    <p:restoredTop sz="94669"/>
  </p:normalViewPr>
  <p:slideViewPr>
    <p:cSldViewPr snapToGrid="0" snapToObjects="1">
      <p:cViewPr varScale="1">
        <p:scale>
          <a:sx n="97" d="100"/>
          <a:sy n="97" d="100"/>
        </p:scale>
        <p:origin x="208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FF"/>
                </a:solidFill>
                <a:latin typeface="Roboto Black"/>
                <a:cs typeface="Roboto Black"/>
              </a:rPr>
              <a:t>LECTURE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0E2841"/>
                </a:solidFill>
                <a:latin typeface="Roboto Black"/>
                <a:cs typeface="Roboto Black"/>
              </a:rPr>
              <a:t>Your First Steps in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0E2841"/>
                </a:solidFill>
                <a:latin typeface="Roboto"/>
                <a:cs typeface="Roboto"/>
              </a:rPr>
              <a:t>Talk to a computer </a:t>
            </a:r>
            <a:r>
              <a:rPr lang="ru-RU" sz="2800" dirty="0">
                <a:solidFill>
                  <a:srgbClr val="0E2841"/>
                </a:solidFill>
                <a:latin typeface="Roboto"/>
                <a:cs typeface="Roboto"/>
              </a:rPr>
              <a:t>- </a:t>
            </a:r>
            <a:r>
              <a:rPr sz="2800" b="0" dirty="0">
                <a:solidFill>
                  <a:srgbClr val="0E2841"/>
                </a:solidFill>
                <a:latin typeface="Roboto"/>
                <a:cs typeface="Roboto"/>
              </a:rPr>
              <a:t>before we ever touch a drone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Bumblebee drone  ·  programming in the Gazebo simulator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2048256"/>
            <a:ext cx="47548" cy="105156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What is programming?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1385316"/>
            <a:ext cx="6492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3C3939"/>
                </a:solidFill>
                <a:latin typeface="Roboto"/>
                <a:cs typeface="Roboto"/>
              </a:rPr>
              <a:t>Today: no drone yet. First we learn to give clear instructions.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A computer is very fast, but it only does exactly what you tell it.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Programming = writing a list of steps for the computer to follow.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Think of a recipe: 'take 2 eggs, add flour, bake 20 minutes'.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We write our recipe in a language called Python.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2</a:t>
            </a:r>
          </a:p>
        </p:txBody>
      </p:sp>
      <p:pic>
        <p:nvPicPr>
          <p:cNvPr id="11" name="Picture 10" descr="ic_program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  <p:pic>
        <p:nvPicPr>
          <p:cNvPr id="12" name="Picture 11" descr="il_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91640"/>
            <a:ext cx="3931920" cy="3217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Why Python?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309360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Python reads almost like English - easy for beginners.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It is one line = one instruction, from top to bottom.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The same Python we learn today will fly our drone next time!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We type Python into a file that ends with .</a:t>
            </a:r>
            <a:r>
              <a:rPr sz="2400" b="0" dirty="0" err="1">
                <a:solidFill>
                  <a:srgbClr val="0E2841"/>
                </a:solidFill>
                <a:latin typeface="Roboto"/>
                <a:cs typeface="Roboto"/>
              </a:rPr>
              <a:t>py</a:t>
            </a:r>
            <a:endParaRPr sz="2400" b="0" dirty="0">
              <a:solidFill>
                <a:srgbClr val="0E2841"/>
              </a:solidFill>
              <a:latin typeface="Roboto"/>
              <a:cs typeface="Roboto"/>
            </a:endParaRP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3</a:t>
            </a:r>
          </a:p>
        </p:txBody>
      </p:sp>
      <p:pic>
        <p:nvPicPr>
          <p:cNvPr id="11" name="Picture 10" descr="ic_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  <p:pic>
        <p:nvPicPr>
          <p:cNvPr id="12" name="Picture 11" descr="il_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874519"/>
            <a:ext cx="4160520" cy="3025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print() - make the computer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C3939"/>
                </a:solidFill>
                <a:latin typeface="Roboto"/>
                <a:cs typeface="Roboto"/>
              </a:rPr>
              <a:t>print() shows text on the screen.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0607040" cy="10210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058400" cy="746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print("Hello!")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print("I am learning Python")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699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E" sz="2000" b="1" dirty="0">
                <a:solidFill>
                  <a:srgbClr val="0E2841"/>
                </a:solidFill>
                <a:latin typeface="Roboto Black"/>
                <a:cs typeface="Roboto Black"/>
              </a:rPr>
              <a:t>💡  </a:t>
            </a:r>
            <a:r>
              <a:rPr sz="2100" b="0" dirty="0">
                <a:solidFill>
                  <a:srgbClr val="3C3939"/>
                </a:solidFill>
                <a:latin typeface="Roboto"/>
                <a:cs typeface="Roboto"/>
              </a:rPr>
              <a:t>Text always goes inside quotes: "like this".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4</a:t>
            </a:r>
          </a:p>
        </p:txBody>
      </p:sp>
      <p:pic>
        <p:nvPicPr>
          <p:cNvPr id="14" name="Picture 13" descr="ic_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Variables - boxes that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A variable is a box with a name.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You put a value inside with  =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Later you use the name to get the value back.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The name is yours to choose.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20421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1767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put 1.0 into a box called height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height = 1.0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name = "Bumblebee"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print(height)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print(name)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966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=  means 'store into', not 'equals' like in math.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5</a:t>
            </a:r>
          </a:p>
        </p:txBody>
      </p:sp>
      <p:pic>
        <p:nvPicPr>
          <p:cNvPr id="14" name="Picture 13" descr="ic_vari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Types - kinds of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309360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3C3939"/>
                </a:solidFill>
                <a:latin typeface="Roboto"/>
                <a:cs typeface="Roboto"/>
              </a:rPr>
              <a:t>Every value has a type. Python cares which one you use.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Number (integer):  5,  42,  -3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Number (decimal):  1.0,  0.4,  3.14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Text (string):  "hello"  -- always in quotes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True / False - yes-or-no answers (we use these for decisions).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6</a:t>
            </a:r>
          </a:p>
        </p:txBody>
      </p:sp>
      <p:pic>
        <p:nvPicPr>
          <p:cNvPr id="11" name="Picture 10" descr="ic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  <p:pic>
        <p:nvPicPr>
          <p:cNvPr id="12" name="Picture 11" descr="il_s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48840"/>
            <a:ext cx="43434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Comments - notes for humans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C3939"/>
                </a:solidFill>
                <a:latin typeface="Roboto"/>
                <a:cs typeface="Roboto"/>
              </a:rPr>
              <a:t>Anything after  #  is a comment.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0607040" cy="13258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6FD6FF"/>
                </a:solidFill>
                <a:latin typeface="Courier New"/>
              </a:rPr>
              <a:t># This line is a note. Python ignores it.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speed = 0.4      # comments can sit after code too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print(speed)     # only the code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E" sz="2000" b="1" dirty="0">
                <a:solidFill>
                  <a:srgbClr val="0E2841"/>
                </a:solidFill>
                <a:latin typeface="Roboto Black"/>
                <a:cs typeface="Roboto Black"/>
              </a:rPr>
              <a:t>💡  </a:t>
            </a:r>
            <a:r>
              <a:rPr sz="2100" b="0" dirty="0">
                <a:solidFill>
                  <a:srgbClr val="3C3939"/>
                </a:solidFill>
                <a:latin typeface="Roboto"/>
                <a:cs typeface="Roboto"/>
              </a:rPr>
              <a:t>Comments explain WHY. They never change what the program does.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7</a:t>
            </a:r>
          </a:p>
        </p:txBody>
      </p:sp>
      <p:pic>
        <p:nvPicPr>
          <p:cNvPr id="14" name="Picture 13" descr="ic_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Doing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C3939"/>
                </a:solidFill>
                <a:latin typeface="Roboto"/>
                <a:cs typeface="Roboto"/>
              </a:rPr>
              <a:t>Python is a calculator too.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0607040" cy="25450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058400" cy="2270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a = 10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b = 3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print(a + b)   # 13  add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print(a - b)   # 7   subtract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print(a * b)   # 30  multiply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print(a / b)   # 3.33 divide</a:t>
            </a:r>
          </a:p>
        </p:txBody>
      </p:sp>
      <p:pic>
        <p:nvPicPr>
          <p:cNvPr id="10" name="Picture 9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8</a:t>
            </a:r>
          </a:p>
        </p:txBody>
      </p:sp>
      <p:pic>
        <p:nvPicPr>
          <p:cNvPr id="13" name="Picture 12" descr="ic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1573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if / else - making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Sometimes the computer must choose.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if a question is True -&gt; do one thing.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else -&gt; do something else.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Notice the spaces (indent) under if.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20421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1767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battery = 30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if battery &gt; 20: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print("OK to fly")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else: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print("Charge me first!")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6117" y="3560064"/>
            <a:ext cx="584712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3C3939"/>
                </a:solidFill>
                <a:latin typeface="Roboto"/>
                <a:cs typeface="Roboto"/>
              </a:rPr>
              <a:t>The  :  and the indent tell Python what belongs to the</a:t>
            </a:r>
            <a:r>
              <a:rPr lang="ru-RU" sz="1800" b="0" dirty="0">
                <a:solidFill>
                  <a:srgbClr val="3C3939"/>
                </a:solidFill>
                <a:latin typeface="Roboto"/>
                <a:cs typeface="Roboto"/>
              </a:rPr>
              <a:t> </a:t>
            </a:r>
            <a:r>
              <a:rPr sz="1800" b="0" dirty="0">
                <a:solidFill>
                  <a:srgbClr val="3C3939"/>
                </a:solidFill>
                <a:latin typeface="Roboto"/>
                <a:cs typeface="Roboto"/>
              </a:rPr>
              <a:t>if.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9</a:t>
            </a:r>
          </a:p>
        </p:txBody>
      </p:sp>
      <p:pic>
        <p:nvPicPr>
          <p:cNvPr id="14" name="Picture 13" descr="ic_ife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for - repeat things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A loop repeats the same steps.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range(3) gives us 0, 1, 2.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Great for doing something N times.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No copy-paste needed!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23215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204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for i in range(3):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print("Beep", i)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prints: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Beep 0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Beep 1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Beep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8760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Next lecture: we will loop to fly a drone around a square.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10</a:t>
            </a:r>
          </a:p>
        </p:txBody>
      </p:sp>
      <p:pic>
        <p:nvPicPr>
          <p:cNvPr id="14" name="Picture 13" descr="ic_f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  <p:pic>
        <p:nvPicPr>
          <p:cNvPr id="15" name="Picture 14" descr="il_s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11880"/>
            <a:ext cx="3246120" cy="21170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Functions - teach a new 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A function is a mini-program with a name.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def creates it. You run it by calling its name.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Write once, use many times.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It can take inputs (here: name).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17627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1488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def say_hi(name):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print("Hi", name)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say_hi("Anna")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say_hi("Max")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3172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Later, drone.takeoff() is just a function someone wrote for us.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11</a:t>
            </a:r>
          </a:p>
        </p:txBody>
      </p:sp>
      <p:pic>
        <p:nvPicPr>
          <p:cNvPr id="14" name="Picture 13" descr="ic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  <p:pic>
        <p:nvPicPr>
          <p:cNvPr id="15" name="Picture 14" descr="il_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2" y="4231640"/>
            <a:ext cx="3017520" cy="2155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Putting it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C3939"/>
                </a:solidFill>
                <a:latin typeface="Roboto"/>
                <a:cs typeface="Roboto"/>
              </a:rPr>
              <a:t>Variables + loop + function, all at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0607040" cy="25450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058400" cy="2270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6FD6FF"/>
                </a:solidFill>
                <a:latin typeface="Courier New"/>
              </a:rPr>
              <a:t># A tiny program using everything we learned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def countdown(start):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for i in range(start, 0, -1):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    print(i)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print("Lift off!")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countdown(3)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939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💡  </a:t>
            </a:r>
            <a:r>
              <a:rPr sz="2100" b="0">
                <a:solidFill>
                  <a:srgbClr val="3C3939"/>
                </a:solidFill>
                <a:latin typeface="Roboto"/>
                <a:cs typeface="Roboto"/>
              </a:rPr>
              <a:t>This prints 3, 2, 1, Lift off!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12</a:t>
            </a:r>
          </a:p>
        </p:txBody>
      </p:sp>
      <p:pic>
        <p:nvPicPr>
          <p:cNvPr id="14" name="Picture 13" descr="ic_toge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Your turn - mini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3C3939"/>
                </a:solidFill>
                <a:latin typeface="Roboto"/>
                <a:cs typeface="Roboto"/>
              </a:rPr>
              <a:t>Try these on any computer with Python. No drone needed.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1) Print your name 5 times using a for loop.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2) Make a variable age and print 'You can fly!' if age &gt; 10.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3) Write a function add(a, b) that prints a + b.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13</a:t>
            </a:r>
          </a:p>
        </p:txBody>
      </p:sp>
      <p:pic>
        <p:nvPicPr>
          <p:cNvPr id="11" name="Picture 10" descr="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  <p:pic>
        <p:nvPicPr>
          <p:cNvPr id="12" name="Picture 11" descr="il_s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783080"/>
            <a:ext cx="4160520" cy="31203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Say hello to the pilot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Make a variable  name  with your name.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Use  print()  to greet the pilot.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Bonus: greet the drone too, on a second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1129792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91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FD6FF"/>
                </a:solidFill>
                <a:latin typeface="Courier New"/>
                <a:cs typeface="Courier New"/>
              </a:rPr>
              <a:t># your code 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name = "Anna"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print("Hello, " + name + "!")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87629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Expected:  </a:t>
            </a:r>
            <a:r>
              <a:rPr sz="1400">
                <a:solidFill>
                  <a:srgbClr val="0E2841"/>
                </a:solidFill>
                <a:latin typeface="Roboto"/>
                <a:cs typeface="Roboto"/>
              </a:rPr>
              <a:t>Hello, Anna!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Can we fly?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The battery level is  45 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Print  "OK to fly"  if it is above 20.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Otherwise print  "Charge me first!" 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1539240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1319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battery = 45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if battery &gt; 20: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print("OK to fly")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print("Charge me first!")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28574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Expected:  </a:t>
            </a:r>
            <a:r>
              <a:rPr sz="1400">
                <a:solidFill>
                  <a:srgbClr val="0E2841"/>
                </a:solidFill>
                <a:latin typeface="Roboto"/>
                <a:cs typeface="Roboto"/>
              </a:rPr>
              <a:t>OK to fly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Countdown to launch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Write a function  countdown(n) 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Use a  for  loop to print  n, n-1, ... 1 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After the loop, print  "Lift off!" 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Call  countdown(3) 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1539240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1319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def countdown(n):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for i in range(n, 0, -1):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    print(i)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print("Lift off!")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countdown(3)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28574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Expected:  </a:t>
            </a:r>
            <a:r>
              <a:rPr sz="1400">
                <a:solidFill>
                  <a:srgbClr val="0E2841"/>
                </a:solidFill>
                <a:latin typeface="Roboto"/>
                <a:cs typeface="Roboto"/>
              </a:rPr>
              <a:t>3 / 2 / 1 / Lift off!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0000FF"/>
                </a:solidFill>
                <a:latin typeface="Roboto Black"/>
                <a:cs typeface="Roboto Black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0000FF"/>
                </a:solidFill>
                <a:latin typeface="Roboto"/>
                <a:cs typeface="Roboto"/>
              </a:rPr>
              <a:t>print · variables · types · comments · math · if/else · for · functions</a:t>
            </a:r>
          </a:p>
        </p:txBody>
      </p:sp>
      <p:pic>
        <p:nvPicPr>
          <p:cNvPr id="6" name="Picture 5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865376"/>
            <a:ext cx="47548" cy="1042416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FF"/>
                </a:solidFill>
                <a:latin typeface="Roboto Black"/>
                <a:cs typeface="Roboto Black"/>
              </a:rPr>
              <a:t>NEXT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0E2841"/>
                </a:solidFill>
                <a:latin typeface="Roboto Black"/>
                <a:cs typeface="Roboto Black"/>
              </a:rPr>
              <a:t>We fly a real drone!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0E2841"/>
                </a:solidFill>
                <a:latin typeface="Roboto"/>
                <a:cs typeface="Roboto"/>
              </a:rPr>
              <a:t>Same Python - now it makes a drone take off in the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Bumblebee drone  ·  programming in the Gazebo simulator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2048256"/>
            <a:ext cx="47548" cy="105156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FF"/>
                </a:solidFill>
                <a:latin typeface="Roboto Black"/>
                <a:cs typeface="Roboto Black"/>
                <a:ea typeface="Roboto Black"/>
              </a:rPr>
              <a:t>QUIZ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E2841"/>
                </a:solidFill>
                <a:latin typeface="Roboto Black"/>
                <a:cs typeface="Roboto Black"/>
                <a:ea typeface="Roboto Black"/>
              </a:rPr>
              <a:t>Let's play Kahoot!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0E2841"/>
                </a:solidFill>
                <a:latin typeface="Roboto"/>
                <a:cs typeface="Roboto"/>
                <a:ea typeface="Roboto"/>
              </a:rPr>
              <a:t>Open  kahoot.it  and join with the game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C3939"/>
                </a:solidFill>
                <a:latin typeface="Roboto"/>
                <a:cs typeface="Roboto"/>
                <a:ea typeface="Roboto"/>
              </a:rPr>
              <a:t>Show what you learned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21408"/>
            <a:ext cx="47548" cy="96012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  <a:ea typeface="Roboto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uture lab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00FF"/>
      </a:accent1>
      <a:accent2>
        <a:srgbClr val="000077"/>
      </a:accent2>
      <a:accent3>
        <a:srgbClr val="00FFFF"/>
      </a:accent3>
      <a:accent4>
        <a:srgbClr val="E8E8E8"/>
      </a:accent4>
      <a:accent5>
        <a:srgbClr val="FFFFFF"/>
      </a:accent5>
      <a:accent6>
        <a:srgbClr val="DBE9F7"/>
      </a:accent6>
      <a:hlink>
        <a:srgbClr val="0000FF"/>
      </a:hlink>
      <a:folHlink>
        <a:srgbClr val="000000"/>
      </a:folHlink>
    </a:clrScheme>
    <a:fontScheme name="Future lab theme">
      <a:majorFont>
        <a:latin typeface="Roboto Black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1109</Words>
  <Application>Microsoft Macintosh PowerPoint</Application>
  <PresentationFormat>Widescreen</PresentationFormat>
  <Paragraphs>163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Courier New</vt:lpstr>
      <vt:lpstr>Roboto</vt:lpstr>
      <vt:lpstr>Roboto Black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Yehor Iermoliuk</cp:lastModifiedBy>
  <cp:revision>4</cp:revision>
  <dcterms:created xsi:type="dcterms:W3CDTF">2013-01-27T09:14:16Z</dcterms:created>
  <dcterms:modified xsi:type="dcterms:W3CDTF">2026-07-17T11:12:49Z</dcterms:modified>
  <cp:category/>
</cp:coreProperties>
</file>