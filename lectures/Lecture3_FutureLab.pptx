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68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99" d="100"/>
          <a:sy n="99" d="100"/>
        </p:scale>
        <p:origin x="192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LECTURE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Missions: Waypoints, Loops &amp; Markers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0E2841"/>
                </a:solidFill>
                <a:latin typeface="Roboto"/>
                <a:cs typeface="Roboto"/>
              </a:rPr>
              <a:t>Combine Python loops and functions to fly real 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Bumblebee drone  ·  programming in the Gazebo simulator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048256"/>
            <a:ext cx="47548" cy="105156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Quick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3C3939"/>
                </a:solidFill>
                <a:latin typeface="Roboto"/>
                <a:cs typeface="Roboto"/>
              </a:rPr>
              <a:t>You already know everything you need. Now we combine it.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import drone -&gt; unlocks the commands.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takeoff, move, hover, safe_land -&gt; the basics.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for loops and functions -&gt; from Lecture 1.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>
                <a:solidFill>
                  <a:srgbClr val="0E2841"/>
                </a:solidFill>
                <a:latin typeface="Roboto"/>
                <a:cs typeface="Roboto"/>
              </a:rPr>
              <a:t>Today we join them into missions.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2</a:t>
            </a:r>
          </a:p>
        </p:txBody>
      </p:sp>
      <p:pic>
        <p:nvPicPr>
          <p:cNvPr id="11" name="Picture 10" descr="ic_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Two ways to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0008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move(): relative - from where I am now.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 err="1">
                <a:solidFill>
                  <a:srgbClr val="0E2841"/>
                </a:solidFill>
                <a:latin typeface="Roboto"/>
                <a:cs typeface="Roboto"/>
              </a:rPr>
              <a:t>fly_to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(): absolute - to a fixed point in the room.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map coordinates never change, wherever the drone is.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 err="1">
                <a:solidFill>
                  <a:srgbClr val="0E2841"/>
                </a:solidFill>
                <a:latin typeface="Roboto"/>
                <a:cs typeface="Roboto"/>
              </a:rPr>
              <a:t>fly_to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 is great for a planned path.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17627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1488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relative step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drone.move(x=1.0)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absolute point in the room (map)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drone.fly_to(x=0.0, y=1.4, z=1.0)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172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Same 3 numbers x, y, z -- but a different starting point.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3</a:t>
            </a:r>
          </a:p>
        </p:txBody>
      </p:sp>
      <p:pic>
        <p:nvPicPr>
          <p:cNvPr id="14" name="Picture 13" descr="ic_sw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The drone knows where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get_pos() gives the current x, y, z.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It returns three numbers at once.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Handy to print or to make decisions.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924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65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x, y, z = drone.get_pos()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print("I am at", x, y, 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79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This is a function that gives a value back -- we store it in variables.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4</a:t>
            </a:r>
          </a:p>
        </p:txBody>
      </p:sp>
      <p:pic>
        <p:nvPicPr>
          <p:cNvPr id="14" name="Picture 13" descr="ic_p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A list of waypoints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 waypoint is one target point (x, y).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A list holds many of them, in order.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Square method: 4 corners.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Lists use square brackets [ 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321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04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6FD6FF"/>
                </a:solidFill>
                <a:latin typeface="Courier New"/>
              </a:rPr>
              <a:t># four corners of a 1 m square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waypoints = [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(0.0, 0.0),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(1.0, 0.0),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(1.0, 1.0),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(0.0, 1.0),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876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Each corner is a pair of numbers grouped with ( ).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5</a:t>
            </a:r>
          </a:p>
        </p:txBody>
      </p:sp>
      <p:pic>
        <p:nvPicPr>
          <p:cNvPr id="14" name="Picture 13" descr="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for loop -&gt; fly the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6622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Loop over every waypoint.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 err="1">
                <a:solidFill>
                  <a:srgbClr val="0E2841"/>
                </a:solidFill>
                <a:latin typeface="Roboto"/>
                <a:cs typeface="Roboto"/>
              </a:rPr>
              <a:t>fly_to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 each corner, one by one.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No copy-paste - the loop repeats for us.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This is Lecture 1's for loop doing real work!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12039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929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for (px, py) in waypoints: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drone.fly_to(x=px, y=py, z=1.0)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drone.hover(1.0)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7584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Four lines fly the whole square, however many corners you add.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6</a:t>
            </a:r>
          </a:p>
        </p:txBody>
      </p:sp>
      <p:pic>
        <p:nvPicPr>
          <p:cNvPr id="14" name="Picture 13" descr="ic_f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5" name="Picture 14" descr="il_s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587" y="3907073"/>
            <a:ext cx="3063240" cy="19977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Wrap a mission in a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One function = one reusable mission. Change the size in one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31546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def fly_square(size):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corners = [(0,0), (size,0), (size,size), (0,size)]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for (px, py) in corners: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    drone.fly_to(x=px, y=py, z=1.0)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    drone.hover(1.0)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drone.takeoff(1.0)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fly_square(1.5)      # a 1.5 m square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drone.safe_land()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60704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 dirty="0">
                <a:solidFill>
                  <a:srgbClr val="3C3939"/>
                </a:solidFill>
                <a:latin typeface="Roboto"/>
                <a:cs typeface="Roboto"/>
              </a:rPr>
              <a:t>Call </a:t>
            </a:r>
            <a:r>
              <a:rPr sz="2100" b="0" dirty="0" err="1">
                <a:solidFill>
                  <a:srgbClr val="3C3939"/>
                </a:solidFill>
                <a:latin typeface="Roboto"/>
                <a:cs typeface="Roboto"/>
              </a:rPr>
              <a:t>fly_square</a:t>
            </a:r>
            <a:r>
              <a:rPr sz="2100" b="0" dirty="0">
                <a:solidFill>
                  <a:srgbClr val="3C3939"/>
                </a:solidFill>
                <a:latin typeface="Roboto"/>
                <a:cs typeface="Roboto"/>
              </a:rPr>
              <a:t>(2.0) for a bigger square - same code.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7</a:t>
            </a:r>
          </a:p>
        </p:txBody>
      </p:sp>
      <p:pic>
        <p:nvPicPr>
          <p:cNvPr id="14" name="Picture 13" descr="ic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dirty="0">
                <a:solidFill>
                  <a:srgbClr val="0000FF"/>
                </a:solidFill>
                <a:latin typeface="Roboto Black"/>
                <a:cs typeface="Roboto Black"/>
              </a:rPr>
              <a:t>Seeing the floor: </a:t>
            </a:r>
            <a:r>
              <a:rPr sz="4600" b="1" dirty="0" err="1">
                <a:solidFill>
                  <a:srgbClr val="0000FF"/>
                </a:solidFill>
                <a:latin typeface="Roboto Black"/>
                <a:cs typeface="Roboto Black"/>
              </a:rPr>
              <a:t>ArUco</a:t>
            </a:r>
            <a:r>
              <a:rPr sz="4600" b="1" dirty="0">
                <a:solidFill>
                  <a:srgbClr val="0000FF"/>
                </a:solidFill>
                <a:latin typeface="Roboto Black"/>
                <a:cs typeface="Roboto Black"/>
              </a:rPr>
              <a:t> markers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FF"/>
                </a:solidFill>
                <a:latin typeface="Roboto"/>
                <a:cs typeface="Roboto"/>
              </a:rPr>
              <a:t>Black-and-white squares that tell the drone exactly where it is</a:t>
            </a:r>
          </a:p>
        </p:txBody>
      </p:sp>
      <p:pic>
        <p:nvPicPr>
          <p:cNvPr id="6" name="Picture 5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5376"/>
            <a:ext cx="47548" cy="1042416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What are ArUco markers?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3C3939"/>
                </a:solidFill>
                <a:latin typeface="Roboto"/>
                <a:cs typeface="Roboto"/>
              </a:rPr>
              <a:t>Indoors there is no GPS. Markers become the drone's map.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Special black-and-white squares, like simple QR codes.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Each one has a number (an id): 0, 1, 2, ...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The down-facing camera sees them on the floor.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From them the drone knows its exact position - very accurate.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9</a:t>
            </a:r>
          </a:p>
        </p:txBody>
      </p:sp>
      <p:pic>
        <p:nvPicPr>
          <p:cNvPr id="11" name="Picture 10" descr="ic_m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l3_aru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4297680" cy="3125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Tell the drone the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We list where each marker sits (id, x, y).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Lengths are in meters.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check_aruco() waits until the camera sees markers.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>
                <a:solidFill>
                  <a:srgbClr val="0E2841"/>
                </a:solidFill>
                <a:latin typeface="Roboto"/>
                <a:cs typeface="Roboto"/>
              </a:rPr>
              <a:t>Now fly_to uses that shared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321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04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dirty="0" err="1">
                <a:solidFill>
                  <a:srgbClr val="EAEAEA"/>
                </a:solidFill>
                <a:latin typeface="Courier New"/>
              </a:rPr>
              <a:t>drone.set_aruco_map</a:t>
            </a:r>
            <a:r>
              <a:rPr sz="1700" b="0" dirty="0">
                <a:solidFill>
                  <a:srgbClr val="EAEAEA"/>
                </a:solidFill>
                <a:latin typeface="Courier New"/>
              </a:rPr>
              <a:t>([</a:t>
            </a:r>
          </a:p>
          <a:p>
            <a:pPr algn="l">
              <a:spcAft>
                <a:spcPts val="200"/>
              </a:spcAft>
            </a:pPr>
            <a:r>
              <a:rPr sz="1700" b="0" dirty="0">
                <a:solidFill>
                  <a:srgbClr val="EAEAEA"/>
                </a:solidFill>
                <a:latin typeface="Courier New"/>
              </a:rPr>
              <a:t>    {"id": 0, "length": 0.19, "x": 0.0, "y": 0.0},</a:t>
            </a:r>
          </a:p>
          <a:p>
            <a:pPr algn="l">
              <a:spcAft>
                <a:spcPts val="200"/>
              </a:spcAft>
            </a:pPr>
            <a:r>
              <a:rPr sz="1700" b="0" dirty="0">
                <a:solidFill>
                  <a:srgbClr val="EAEAEA"/>
                </a:solidFill>
                <a:latin typeface="Courier New"/>
              </a:rPr>
              <a:t>    {"id": 1, "length": 0.19, "x": 0.4, "y": 0.0},</a:t>
            </a:r>
          </a:p>
          <a:p>
            <a:pPr algn="l">
              <a:spcAft>
                <a:spcPts val="200"/>
              </a:spcAft>
            </a:pPr>
            <a:r>
              <a:rPr sz="1700" b="0" dirty="0">
                <a:solidFill>
                  <a:srgbClr val="EAEAEA"/>
                </a:solidFill>
                <a:latin typeface="Courier New"/>
              </a:rPr>
              <a:t>    {"id": 2, "length": 0.19, "x": 0.8, "y": 0.0},</a:t>
            </a:r>
          </a:p>
          <a:p>
            <a:pPr algn="l">
              <a:spcAft>
                <a:spcPts val="200"/>
              </a:spcAft>
            </a:pPr>
            <a:r>
              <a:rPr sz="1700" b="0" dirty="0">
                <a:solidFill>
                  <a:srgbClr val="EAEAEA"/>
                </a:solidFill>
                <a:latin typeface="Courier New"/>
              </a:rPr>
              <a:t>])</a:t>
            </a:r>
          </a:p>
          <a:p>
            <a:pPr algn="l">
              <a:spcAft>
                <a:spcPts val="200"/>
              </a:spcAft>
            </a:pPr>
            <a:r>
              <a:rPr sz="1700" b="0" dirty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 dirty="0" err="1">
                <a:solidFill>
                  <a:srgbClr val="EAEAEA"/>
                </a:solidFill>
                <a:latin typeface="Courier New"/>
              </a:rPr>
              <a:t>drone.check_aruco</a:t>
            </a:r>
            <a:r>
              <a:rPr sz="1700" b="0" dirty="0">
                <a:solidFill>
                  <a:srgbClr val="EAEAEA"/>
                </a:solidFill>
                <a:latin typeface="Courier New"/>
              </a:rPr>
              <a:t>(timeout=10)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876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3C3939"/>
                </a:solidFill>
                <a:latin typeface="Roboto"/>
                <a:cs typeface="Roboto"/>
              </a:rPr>
              <a:t>Marker 0 sits at (0, 0) -- the origin of the whole room.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10</a:t>
            </a:r>
          </a:p>
        </p:txBody>
      </p:sp>
      <p:pic>
        <p:nvPicPr>
          <p:cNvPr id="14" name="Picture 13" descr="i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A marker 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3C3939"/>
                </a:solidFill>
                <a:latin typeface="Roboto"/>
                <a:cs typeface="Roboto"/>
              </a:rPr>
              <a:t>Fly from marker 0 to marker 2 and back, then land.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0607040" cy="40690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05840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import drone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drone.set_aruco_map([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{"id": 0, "length": 0.19, "x": 0.0, "y": 0.0},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   {"id": 2, "length": 0.19, "x": 0.8, "y": 0.0},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])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drone.check_aruco(timeout=10)   # wait to see markers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drone.takeoff(0.8)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drone.fly_to(x=0.8, y=0.0, z=0.8)   # over marker 2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drone.fly_to(x=0.0, y=0.0, z=0.8)   # back to marker 0</a:t>
            </a:r>
          </a:p>
          <a:p>
            <a:pPr algn="l">
              <a:spcAft>
                <a:spcPts val="200"/>
              </a:spcAft>
            </a:pPr>
            <a:r>
              <a:rPr sz="1900" b="0">
                <a:solidFill>
                  <a:srgbClr val="EAEAEA"/>
                </a:solidFill>
                <a:latin typeface="Courier New"/>
              </a:rPr>
              <a:t>drone.safe_land()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2841"/>
                </a:solidFill>
                <a:latin typeface="Roboto Black"/>
                <a:cs typeface="Roboto Black"/>
              </a:rPr>
              <a:t>💡  </a:t>
            </a:r>
            <a:r>
              <a:rPr sz="2100" b="0">
                <a:solidFill>
                  <a:srgbClr val="3C3939"/>
                </a:solidFill>
                <a:latin typeface="Roboto"/>
                <a:cs typeface="Roboto"/>
              </a:rPr>
              <a:t>Because of the markers, the drone lands right where it started.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11</a:t>
            </a:r>
          </a:p>
        </p:txBody>
      </p:sp>
      <p:pic>
        <p:nvPicPr>
          <p:cNvPr id="14" name="Picture 13" descr="ic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Python + drone = smart 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24827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 err="1">
                <a:solidFill>
                  <a:srgbClr val="0E2841"/>
                </a:solidFill>
                <a:latin typeface="Roboto"/>
                <a:cs typeface="Roboto"/>
              </a:rPr>
              <a:t>fly_to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 tells us if it reached the point (True/False).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Use if to react - exactly like Lecture 1.</a:t>
            </a:r>
          </a:p>
          <a:p>
            <a:pPr algn="l">
              <a:spcAft>
                <a:spcPts val="1400"/>
              </a:spcAft>
            </a:pPr>
            <a:r>
              <a:rPr sz="20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200" b="0" dirty="0">
                <a:solidFill>
                  <a:srgbClr val="0E2841"/>
                </a:solidFill>
                <a:latin typeface="Roboto"/>
                <a:cs typeface="Roboto"/>
              </a:rPr>
              <a:t>Now the drone can make decisions in the air.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463040"/>
            <a:ext cx="5577840" cy="23215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627632"/>
            <a:ext cx="5212080" cy="204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ok = drone.fly_to(x=0.8, y=0.0, z=0.8)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if ok: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drone.hover(2.0)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else: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print("Could not get there")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AEAEA"/>
                </a:solidFill>
                <a:latin typeface="Courier New"/>
              </a:rPr>
              <a:t>    drone.safe_land()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8760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3939"/>
                </a:solidFill>
                <a:latin typeface="Roboto"/>
                <a:cs typeface="Roboto"/>
              </a:rPr>
              <a:t>Everything ties back to the basics you learned first.</a:t>
            </a:r>
          </a:p>
        </p:txBody>
      </p:sp>
      <p:pic>
        <p:nvPicPr>
          <p:cNvPr id="11" name="Picture 10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12</a:t>
            </a:r>
          </a:p>
        </p:txBody>
      </p:sp>
      <p:pic>
        <p:nvPicPr>
          <p:cNvPr id="14" name="Picture 13" descr="ic_ife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Fly a square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Make a list of 4 waypoints (a square).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Take off, then fly_to each corner in a for loop.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Hover at each corner, then safe_land().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1948688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72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import drone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waypoints = [(0,0), (1,0), (1,1), (0,1)]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drone.takeoff(1.0)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for (px, py) in waypoints: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drone.fly_to(x=px, y=py, z=1.0)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drone.hover(1.0)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drone.safe_land()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695192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Reusable mission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Wrap the square in a function fly_square(size).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Call fly_square(2.0) for a bigger square.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Change the size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2153412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1933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def fly_square(size):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corners = [(0,0), (size,0), (size,size), (0,size)]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for (px, py) in corners: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    drone.fly_to(x=px, y=py, z=1.0)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    drone.hover(1.0)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drone.takeoff(1.0)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fly_square(2.0)      </a:t>
            </a:r>
            <a:r>
              <a:rPr sz="1300">
                <a:solidFill>
                  <a:srgbClr val="6FD6FF"/>
                </a:solidFill>
                <a:latin typeface="Courier New"/>
                <a:cs typeface="Courier New"/>
              </a:rPr>
              <a:t># bigger square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drone.safe_land()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899916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0000FF"/>
                </a:solidFill>
                <a:latin typeface="Roboto Black"/>
                <a:cs typeface="Roboto Black"/>
              </a:rPr>
              <a:t>PRACTICE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84124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spcAft>
                <a:spcPts val="0"/>
              </a:spcAft>
            </a:pPr>
            <a:r>
              <a:rPr sz="3000" b="0">
                <a:solidFill>
                  <a:srgbClr val="0E2841"/>
                </a:solidFill>
                <a:latin typeface="Roboto Black"/>
                <a:cs typeface="Roboto Black"/>
              </a:rPr>
              <a:t>Markers + decision</a:t>
            </a:r>
          </a:p>
        </p:txBody>
      </p:sp>
      <p:pic>
        <p:nvPicPr>
          <p:cNvPr id="5" name="Picture 4" descr="ic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76656"/>
            <a:ext cx="420624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Set the ArUco map, then check_aruco().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fly_to a marker; save the result in  ok.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0E2841"/>
                </a:solidFill>
                <a:latin typeface="Roboto"/>
                <a:cs typeface="Roboto"/>
              </a:rPr>
              <a:t>●  if ok: hover; always safe_land().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00200"/>
            <a:ext cx="5577840" cy="2767584"/>
          </a:xfrm>
          <a:prstGeom prst="roundRect">
            <a:avLst>
              <a:gd name="adj" fmla="val 6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54496" y="1728216"/>
            <a:ext cx="5157216" cy="2548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import drone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drone.set_aruco_map([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{"id": 0, "length": 0.19, "x": 0.0, "y": 0.0},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{"id": 2, "length": 0.19, "x": 0.8, "y": 0.0},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drone.check_aruco(timeout=10)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sz="1300">
              <a:solidFill>
                <a:srgbClr val="DBE9F7"/>
              </a:solidFill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drone.takeoff(0.8)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ok = drone.fly_to(x=0.8, y=0.0, z=0.8)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if ok: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    drone.hover(2.0)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DBE9F7"/>
                </a:solidFill>
                <a:latin typeface="Courier New"/>
                <a:cs typeface="Courier New"/>
              </a:rPr>
              <a:t>drone.safe_land()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514088"/>
            <a:ext cx="5577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FF"/>
                </a:solidFill>
                <a:latin typeface="Roboto"/>
                <a:cs typeface="Roboto"/>
              </a:rPr>
              <a:t>▶  Run it:  </a:t>
            </a:r>
            <a:r>
              <a:rPr sz="1300">
                <a:solidFill>
                  <a:srgbClr val="0E2841"/>
                </a:solidFill>
                <a:latin typeface="Courier New"/>
                <a:cs typeface="Courier New"/>
              </a:rPr>
              <a:t>sim-run flight.py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"/>
            <a:ext cx="8412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E2841"/>
                </a:solidFill>
                <a:latin typeface="Roboto Black"/>
                <a:cs typeface="Roboto Black"/>
              </a:rPr>
              <a:t>Where to go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309360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 dirty="0">
                <a:solidFill>
                  <a:srgbClr val="3C3939"/>
                </a:solidFill>
                <a:latin typeface="Roboto"/>
                <a:cs typeface="Roboto"/>
              </a:rPr>
              <a:t>You can now program real drone missions. Congratulations!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Try longer paths: add more waypoints to the list.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Make functions for takeoff-patrol-land you can reuse.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Explore more markers and bigger maps.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0E2841"/>
                </a:solidFill>
                <a:latin typeface="Roboto Black"/>
                <a:cs typeface="Roboto Black"/>
              </a:rPr>
              <a:t>●  </a:t>
            </a:r>
            <a:r>
              <a:rPr sz="2400" b="0" dirty="0">
                <a:solidFill>
                  <a:srgbClr val="0E2841"/>
                </a:solidFill>
                <a:latin typeface="Roboto"/>
                <a:cs typeface="Roboto"/>
              </a:rPr>
              <a:t>When you are ready - the very same code flies the real Bumblebee.</a:t>
            </a:r>
          </a:p>
        </p:txBody>
      </p:sp>
      <p:pic>
        <p:nvPicPr>
          <p:cNvPr id="8" name="Picture 7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16</a:t>
            </a:r>
          </a:p>
        </p:txBody>
      </p:sp>
      <p:pic>
        <p:nvPicPr>
          <p:cNvPr id="11" name="Picture 10" descr="ic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365760"/>
            <a:ext cx="420624" cy="420624"/>
          </a:xfrm>
          <a:prstGeom prst="rect">
            <a:avLst/>
          </a:prstGeom>
        </p:spPr>
      </p:pic>
      <p:pic>
        <p:nvPicPr>
          <p:cNvPr id="12" name="Picture 11" descr="il_s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83080"/>
            <a:ext cx="4160520" cy="31203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0000FF"/>
                </a:solidFill>
                <a:latin typeface="Roboto Black"/>
                <a:cs typeface="Roboto Black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0000FF"/>
                </a:solidFill>
                <a:latin typeface="Roboto"/>
                <a:cs typeface="Roboto"/>
              </a:rPr>
              <a:t>fly_to · get_pos · waypoint lists · for loops · functions · ArUco markers</a:t>
            </a:r>
          </a:p>
        </p:txBody>
      </p:sp>
      <p:pic>
        <p:nvPicPr>
          <p:cNvPr id="6" name="Picture 5" descr="f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0" y="219456"/>
            <a:ext cx="2148840" cy="7705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865376"/>
            <a:ext cx="47548" cy="1042416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11840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00FF"/>
                </a:solidFill>
                <a:latin typeface="Roboto Black"/>
                <a:cs typeface="Roboto Black"/>
              </a:rPr>
              <a:t>QUIZ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E2841"/>
                </a:solidFill>
                <a:latin typeface="Roboto Black"/>
                <a:cs typeface="Roboto Black"/>
              </a:rPr>
              <a:t>Let's play Kahoot!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E2841"/>
                </a:solidFill>
                <a:latin typeface="Roboto"/>
                <a:cs typeface="Roboto"/>
              </a:rPr>
              <a:t>Open  kahoot.it  and join with the game 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3C3939"/>
                </a:solidFill>
                <a:latin typeface="Roboto"/>
                <a:cs typeface="Roboto"/>
              </a:rPr>
              <a:t>Show what you learned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21408"/>
            <a:ext cx="47548" cy="960120"/>
          </a:xfrm>
          <a:prstGeom prst="rect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2" y="219456"/>
            <a:ext cx="2148840" cy="770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08792" y="652881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3C3939"/>
                </a:solidFill>
                <a:latin typeface="Roboto"/>
                <a:cs typeface="Robot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uture lab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00FF"/>
      </a:accent1>
      <a:accent2>
        <a:srgbClr val="000077"/>
      </a:accent2>
      <a:accent3>
        <a:srgbClr val="00FFFF"/>
      </a:accent3>
      <a:accent4>
        <a:srgbClr val="E8E8E8"/>
      </a:accent4>
      <a:accent5>
        <a:srgbClr val="FFFFFF"/>
      </a:accent5>
      <a:accent6>
        <a:srgbClr val="DBE9F7"/>
      </a:accent6>
      <a:hlink>
        <a:srgbClr val="0000FF"/>
      </a:hlink>
      <a:folHlink>
        <a:srgbClr val="000000"/>
      </a:folHlink>
    </a:clrScheme>
    <a:fontScheme name="Future lab theme">
      <a:majorFont>
        <a:latin typeface="Roboto Black"/>
        <a:ea typeface=""/>
        <a:cs typeface=""/>
      </a:majorFont>
      <a:minorFont>
        <a:latin typeface="Roboto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1570</Words>
  <Application>Microsoft Macintosh PowerPoint</Application>
  <PresentationFormat>Widescreen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Courier New</vt:lpstr>
      <vt:lpstr>Roboto</vt:lpstr>
      <vt:lpstr>Roboto Black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Yehor Iermoliuk</cp:lastModifiedBy>
  <cp:revision>3</cp:revision>
  <dcterms:created xsi:type="dcterms:W3CDTF">2013-01-27T09:14:16Z</dcterms:created>
  <dcterms:modified xsi:type="dcterms:W3CDTF">2026-07-17T13:05:53Z</dcterms:modified>
  <cp:category/>
</cp:coreProperties>
</file>