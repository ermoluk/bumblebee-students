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69" r:id="rId18"/>
    <p:sldId id="270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69"/>
  </p:normalViewPr>
  <p:slideViewPr>
    <p:cSldViewPr snapToGrid="0" snapToObjects="1">
      <p:cViewPr varScale="1">
        <p:scale>
          <a:sx n="97" d="100"/>
          <a:sy n="97" d="100"/>
        </p:scale>
        <p:origin x="208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FF"/>
                </a:solidFill>
                <a:latin typeface="Roboto Black"/>
                <a:cs typeface="Roboto Black"/>
              </a:rPr>
              <a:t>LECTURE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0E2841"/>
                </a:solidFill>
                <a:latin typeface="Roboto Black"/>
                <a:cs typeface="Roboto Black"/>
              </a:rPr>
              <a:t>Fly Your First Drone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dirty="0">
                <a:solidFill>
                  <a:srgbClr val="0E2841"/>
                </a:solidFill>
                <a:latin typeface="Roboto"/>
                <a:cs typeface="Roboto"/>
              </a:rPr>
              <a:t>Same Python - now it commands the Bumblebee in Gazebo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Bumblebee drone  ·  programming in the Gazebo simulator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2048256"/>
            <a:ext cx="47548" cy="105156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Meet Bumblebee - in a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1473550"/>
            <a:ext cx="6400800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 dirty="0">
                <a:solidFill>
                  <a:srgbClr val="3C3939"/>
                </a:solidFill>
                <a:latin typeface="Roboto"/>
                <a:cs typeface="Roboto"/>
              </a:rPr>
              <a:t>Today we send our very first commands to a drone.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Gazebo is like a video game world for robots.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The drone inside it flies with real physics - but it is virtual.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If we crash, nothing breaks. We just restart. Perfect for learning!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Everything you write here also works on the real drone.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2</a:t>
            </a:r>
          </a:p>
        </p:txBody>
      </p:sp>
      <p:pic>
        <p:nvPicPr>
          <p:cNvPr id="11" name="Picture 10" descr="ic_s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  <p:pic>
        <p:nvPicPr>
          <p:cNvPr id="12" name="Picture 11" descr="il_l2_s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645920"/>
            <a:ext cx="4160520" cy="28942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How we talk to the drone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One line unlocks all drone commands: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import drone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Then we call functions like drone.takeoff().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That is the same 'function call' idea from Lecture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14833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120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every flight script starts like this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import drone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now drone.&lt;command&gt;() is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0378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Someone already wrote the drone functions for us. We just use them.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3</a:t>
            </a:r>
          </a:p>
        </p:txBody>
      </p:sp>
      <p:pic>
        <p:nvPicPr>
          <p:cNvPr id="14" name="Picture 13" descr="ic_im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How to run your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C3939"/>
                </a:solidFill>
                <a:latin typeface="Roboto"/>
                <a:cs typeface="Roboto"/>
              </a:rPr>
              <a:t>sim-run starts your program in the simulator.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10607040" cy="16306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10058400" cy="135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6FD6FF"/>
                </a:solidFill>
                <a:latin typeface="Courier New"/>
              </a:rPr>
              <a:t># save your code in a file, e.g. flight.py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6FD6FF"/>
                </a:solidFill>
                <a:latin typeface="Courier New"/>
              </a:rPr>
              <a:t># then in the terminal type: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sim-run flight.py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795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💡  </a:t>
            </a:r>
            <a:r>
              <a:rPr sz="2100" b="0">
                <a:solidFill>
                  <a:srgbClr val="3C3939"/>
                </a:solidFill>
                <a:latin typeface="Roboto"/>
                <a:cs typeface="Roboto"/>
              </a:rPr>
              <a:t>Watch the drone move in the Gazebo window while your code runs.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4</a:t>
            </a:r>
          </a:p>
        </p:txBody>
      </p:sp>
      <p:pic>
        <p:nvPicPr>
          <p:cNvPr id="14" name="Picture 13" descr="ic_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0000FF"/>
                </a:solidFill>
                <a:latin typeface="Roboto Black"/>
                <a:cs typeface="Roboto Black"/>
              </a:rPr>
              <a:t>The 5 magic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0000FF"/>
                </a:solidFill>
                <a:latin typeface="Roboto"/>
                <a:cs typeface="Roboto"/>
              </a:rPr>
              <a:t>takeoff · move · hover · fly_to · safe_land</a:t>
            </a:r>
          </a:p>
        </p:txBody>
      </p:sp>
      <p:pic>
        <p:nvPicPr>
          <p:cNvPr id="6" name="Picture 5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865376"/>
            <a:ext cx="47548" cy="1042416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takeoff() - go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Arms the motors and climbs.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The number is the height in meters.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1.0 means one meter above the floor.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Always the first thing we 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14833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120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import drone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climb to 1 meter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drone.takeoff(1.0)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0378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takeoff(1.0) -&gt; the drone rises to 1 m and waits there.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6</a:t>
            </a:r>
          </a:p>
        </p:txBody>
      </p:sp>
      <p:pic>
        <p:nvPicPr>
          <p:cNvPr id="14" name="Picture 13" descr="ic_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  <p:pic>
        <p:nvPicPr>
          <p:cNvPr id="15" name="Picture 14" descr="il_s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40480"/>
            <a:ext cx="2926080" cy="20900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move() - step in a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Moves relative to where the drone is now.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x = forward,  y = left,  z = up (in meters).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Negative numbers go the other way.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y = -1 means one meter to the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26009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2326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1 meter forward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drone.move(x=1.0)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1 meter to the right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drone.move(y=-1.0)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go up 0.5 m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drone.move(z=0.5)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1554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Think from the drone's point of view: forward is where its nose points.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7</a:t>
            </a:r>
          </a:p>
        </p:txBody>
      </p:sp>
      <p:pic>
        <p:nvPicPr>
          <p:cNvPr id="14" name="Picture 13" descr="ic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  <p:pic>
        <p:nvPicPr>
          <p:cNvPr id="15" name="Picture 14" descr="il_l2_mo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14216"/>
            <a:ext cx="301752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hover() - wait in the 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Stay still and hold position.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The number is seconds.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Good for a pause between moves.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9245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65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hover in place for 3 seconds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drone.hover(3.0)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4790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Useful to let the drone settle before the next command.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8</a:t>
            </a:r>
          </a:p>
        </p:txBody>
      </p:sp>
      <p:pic>
        <p:nvPicPr>
          <p:cNvPr id="14" name="Picture 13" descr="ic_p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8295"/>
            <a:ext cx="841248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 err="1">
                <a:solidFill>
                  <a:srgbClr val="0E2841"/>
                </a:solidFill>
                <a:latin typeface="Roboto Black"/>
                <a:cs typeface="Roboto Black"/>
              </a:rPr>
              <a:t>safe_land</a:t>
            </a:r>
            <a:r>
              <a:rPr sz="3400" b="1" dirty="0">
                <a:solidFill>
                  <a:srgbClr val="0E2841"/>
                </a:solidFill>
                <a:latin typeface="Roboto Black"/>
                <a:cs typeface="Roboto Black"/>
              </a:rPr>
              <a:t>() - come down safely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Lands gently and turns the motors off.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Always end your flight with it.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Never just stop the program in the air!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9245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65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land and disarm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drone.safe_land()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4790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safe_land checks the drone really touched down before finishing.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9</a:t>
            </a:r>
          </a:p>
        </p:txBody>
      </p:sp>
      <p:pic>
        <p:nvPicPr>
          <p:cNvPr id="14" name="Picture 13" descr="ic_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59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Our first full flight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C3939"/>
                </a:solidFill>
                <a:latin typeface="Roboto"/>
                <a:cs typeface="Roboto"/>
              </a:rPr>
              <a:t>Up, forward, pause, land. That is a complete mission.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10607040" cy="22402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100584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import drone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drone.takeoff(1.0)   # up to 1 m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drone.move(x=1.0)    # forward 1 m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drone.hover(2.0)     # pause 2 s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drone.safe_land()    # 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💡  </a:t>
            </a:r>
            <a:r>
              <a:rPr sz="2100" b="0">
                <a:solidFill>
                  <a:srgbClr val="3C3939"/>
                </a:solidFill>
                <a:latin typeface="Roboto"/>
                <a:cs typeface="Roboto"/>
              </a:rPr>
              <a:t>Run it with:  sim-run flight.py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10</a:t>
            </a:r>
          </a:p>
        </p:txBody>
      </p:sp>
      <p:pic>
        <p:nvPicPr>
          <p:cNvPr id="14" name="Picture 13" descr="ic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Coordinates, simply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309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3C3939"/>
                </a:solidFill>
                <a:latin typeface="Roboto"/>
                <a:cs typeface="Roboto"/>
              </a:rPr>
              <a:t>The drone lives in 3D space. Three numbers point anywhere.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x  -&gt;  forward / backward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y  -&gt;  left / right  (left is +, right is -)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z  -&gt;  up / down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All distances are in meters. 1.0 = one meter.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11</a:t>
            </a:r>
          </a:p>
        </p:txBody>
      </p:sp>
      <p:pic>
        <p:nvPicPr>
          <p:cNvPr id="11" name="Picture 10" descr="ic_axes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  <p:pic>
        <p:nvPicPr>
          <p:cNvPr id="12" name="Picture 11" descr="il_l2_co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37360"/>
            <a:ext cx="4343400" cy="31588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Safety: always land!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Computers can hit errors halfway.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try / finally makes sure we land no matter what.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enable_safe_interrupt(): press Ctrl+C -&gt; lands, not crash.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This is the grown-up, safe way to fly.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28803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import drone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drone.enable_safe_interrupt()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try: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drone.takeoff(1.0)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drone.move(x=1.0)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finally: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drone.safe_land()   # always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4348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finally: runs even if something above it fails.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12</a:t>
            </a:r>
          </a:p>
        </p:txBody>
      </p:sp>
      <p:pic>
        <p:nvPicPr>
          <p:cNvPr id="14" name="Picture 13" descr="i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Mini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309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3C3939"/>
                </a:solidFill>
                <a:latin typeface="Roboto"/>
                <a:cs typeface="Roboto"/>
              </a:rPr>
              <a:t>Edit flight.py and run  sim-run flight.py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Make the drone take off, fly forward 2 m, then back 2 m, and land.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Add a hover(2.0) in the middle.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Bonus idea: can you fly a full square? (that is next lecture!)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13</a:t>
            </a:r>
          </a:p>
        </p:txBody>
      </p:sp>
      <p:pic>
        <p:nvPicPr>
          <p:cNvPr id="11" name="Picture 10" descr="ic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  <p:pic>
        <p:nvPicPr>
          <p:cNvPr id="12" name="Picture 11" descr="il_s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83080"/>
            <a:ext cx="4160520" cy="31203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0000FF"/>
                </a:solidFill>
                <a:latin typeface="Roboto Black"/>
                <a:cs typeface="Roboto Black"/>
              </a:rPr>
              <a:t>PRACTICE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84124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0">
                <a:solidFill>
                  <a:srgbClr val="0E2841"/>
                </a:solidFill>
                <a:latin typeface="Roboto Black"/>
                <a:cs typeface="Roboto Black"/>
              </a:rPr>
              <a:t>Up and hover</a:t>
            </a:r>
          </a:p>
        </p:txBody>
      </p:sp>
      <p:pic>
        <p:nvPicPr>
          <p:cNvPr id="5" name="Picture 4" descr="ic_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76656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Take off to 1 meter.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Hover in place for 2 seconds.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Land safely with safe_land().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00200"/>
            <a:ext cx="5577840" cy="1334516"/>
          </a:xfrm>
          <a:prstGeom prst="roundRect">
            <a:avLst>
              <a:gd name="adj" fmla="val 6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54496" y="1728216"/>
            <a:ext cx="5157216" cy="1115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import drone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300">
              <a:solidFill>
                <a:srgbClr val="DBE9F7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drone.takeoff(1.0)   </a:t>
            </a:r>
            <a:r>
              <a:rPr sz="1300">
                <a:solidFill>
                  <a:srgbClr val="6FD6FF"/>
                </a:solidFill>
                <a:latin typeface="Courier New"/>
                <a:cs typeface="Courier New"/>
              </a:rPr>
              <a:t># up to 1 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drone.hover(2.0)     </a:t>
            </a:r>
            <a:r>
              <a:rPr sz="1300">
                <a:solidFill>
                  <a:srgbClr val="6FD6FF"/>
                </a:solidFill>
                <a:latin typeface="Courier New"/>
                <a:cs typeface="Courier New"/>
              </a:rPr>
              <a:t># wait 2 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drone.safe_land()    </a:t>
            </a:r>
            <a:r>
              <a:rPr sz="1300">
                <a:solidFill>
                  <a:srgbClr val="6FD6FF"/>
                </a:solidFill>
                <a:latin typeface="Courier New"/>
                <a:cs typeface="Courier New"/>
              </a:rPr>
              <a:t># 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081020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FF"/>
                </a:solidFill>
                <a:latin typeface="Roboto"/>
                <a:cs typeface="Roboto"/>
              </a:rPr>
              <a:t>▶  Run it:  </a:t>
            </a:r>
            <a:r>
              <a:rPr sz="1300">
                <a:solidFill>
                  <a:srgbClr val="0E2841"/>
                </a:solidFill>
                <a:latin typeface="Courier New"/>
                <a:cs typeface="Courier New"/>
              </a:rPr>
              <a:t>sim-run flight.py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19456"/>
            <a:ext cx="2148840" cy="7705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0000FF"/>
                </a:solidFill>
                <a:latin typeface="Roboto Black"/>
                <a:cs typeface="Roboto Black"/>
              </a:rPr>
              <a:t>PRACTICE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84124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0">
                <a:solidFill>
                  <a:srgbClr val="0E2841"/>
                </a:solidFill>
                <a:latin typeface="Roboto Black"/>
                <a:cs typeface="Roboto Black"/>
              </a:rPr>
              <a:t>There and back</a:t>
            </a:r>
          </a:p>
        </p:txBody>
      </p:sp>
      <p:pic>
        <p:nvPicPr>
          <p:cNvPr id="5" name="Picture 4" descr="ic_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76656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Take off, then fly forward 2 m.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Fly back 2 m to the start.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Hover, then always safe_land().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00200"/>
            <a:ext cx="5577840" cy="1743964"/>
          </a:xfrm>
          <a:prstGeom prst="roundRect">
            <a:avLst>
              <a:gd name="adj" fmla="val 6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54496" y="1728216"/>
            <a:ext cx="5157216" cy="1524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import drone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300">
              <a:solidFill>
                <a:srgbClr val="DBE9F7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drone.takeoff(1.0)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drone.move(x=2.0)    </a:t>
            </a:r>
            <a:r>
              <a:rPr sz="1300">
                <a:solidFill>
                  <a:srgbClr val="6FD6FF"/>
                </a:solidFill>
                <a:latin typeface="Courier New"/>
                <a:cs typeface="Courier New"/>
              </a:rPr>
              <a:t># forward 2 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drone.move(x=-2.0)   </a:t>
            </a:r>
            <a:r>
              <a:rPr sz="1300">
                <a:solidFill>
                  <a:srgbClr val="6FD6FF"/>
                </a:solidFill>
                <a:latin typeface="Courier New"/>
                <a:cs typeface="Courier New"/>
              </a:rPr>
              <a:t># back 2 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drone.hover(2.0)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drone.safe_land()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490468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FF"/>
                </a:solidFill>
                <a:latin typeface="Roboto"/>
                <a:cs typeface="Roboto"/>
              </a:rPr>
              <a:t>▶  Run it:  </a:t>
            </a:r>
            <a:r>
              <a:rPr sz="1300">
                <a:solidFill>
                  <a:srgbClr val="0E2841"/>
                </a:solidFill>
                <a:latin typeface="Courier New"/>
                <a:cs typeface="Courier New"/>
              </a:rPr>
              <a:t>sim-run flight.py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19456"/>
            <a:ext cx="2148840" cy="7705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0000FF"/>
                </a:solidFill>
                <a:latin typeface="Roboto Black"/>
                <a:cs typeface="Roboto Black"/>
              </a:rPr>
              <a:t>PRACTICE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84124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0">
                <a:solidFill>
                  <a:srgbClr val="0E2841"/>
                </a:solidFill>
                <a:latin typeface="Roboto Black"/>
                <a:cs typeface="Roboto Black"/>
              </a:rPr>
              <a:t>Always land</a:t>
            </a:r>
          </a:p>
        </p:txBody>
      </p:sp>
      <p:pic>
        <p:nvPicPr>
          <p:cNvPr id="5" name="Picture 4" descr="ic_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76656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Turn on safe interrupt (Ctrl+C lands).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Put takeoff &amp; move inside  try.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Land in  finally  — so it always lands.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00200"/>
            <a:ext cx="5577840" cy="1948688"/>
          </a:xfrm>
          <a:prstGeom prst="roundRect">
            <a:avLst>
              <a:gd name="adj" fmla="val 6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54496" y="1728216"/>
            <a:ext cx="5157216" cy="172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import drone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drone.enable_safe_interrupt()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300">
              <a:solidFill>
                <a:srgbClr val="DBE9F7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drone.takeoff(1.0)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drone.move(x=1.0)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drone.safe_land()   </a:t>
            </a:r>
            <a:r>
              <a:rPr sz="1300">
                <a:solidFill>
                  <a:srgbClr val="6FD6FF"/>
                </a:solidFill>
                <a:latin typeface="Courier New"/>
                <a:cs typeface="Courier New"/>
              </a:rPr>
              <a:t># always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695192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FF"/>
                </a:solidFill>
                <a:latin typeface="Roboto"/>
                <a:cs typeface="Roboto"/>
              </a:rPr>
              <a:t>▶  Run it:  </a:t>
            </a:r>
            <a:r>
              <a:rPr sz="1300">
                <a:solidFill>
                  <a:srgbClr val="0E2841"/>
                </a:solidFill>
                <a:latin typeface="Courier New"/>
                <a:cs typeface="Courier New"/>
              </a:rPr>
              <a:t>sim-run flight.py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19456"/>
            <a:ext cx="2148840" cy="7705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0000FF"/>
                </a:solidFill>
                <a:latin typeface="Roboto Black"/>
                <a:cs typeface="Roboto Black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0000FF"/>
                </a:solidFill>
                <a:latin typeface="Roboto"/>
                <a:cs typeface="Roboto"/>
              </a:rPr>
              <a:t>import drone · takeoff · move · hover · safe_land · try/finally</a:t>
            </a:r>
          </a:p>
        </p:txBody>
      </p:sp>
      <p:pic>
        <p:nvPicPr>
          <p:cNvPr id="6" name="Picture 5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865376"/>
            <a:ext cx="47548" cy="1042416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FF"/>
                </a:solidFill>
                <a:latin typeface="Roboto Black"/>
                <a:cs typeface="Roboto Black"/>
              </a:rPr>
              <a:t>NEXT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0E2841"/>
                </a:solidFill>
                <a:latin typeface="Roboto Black"/>
                <a:cs typeface="Roboto Black"/>
              </a:rPr>
              <a:t>Missions, loops &amp; markers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E2841"/>
                </a:solidFill>
                <a:latin typeface="Roboto"/>
                <a:cs typeface="Roboto"/>
              </a:rPr>
              <a:t>Fly a whole path with a for loop - and follow floor markers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Bumblebee drone  ·  programming in the Gazebo simulator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2048256"/>
            <a:ext cx="47548" cy="105156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FF"/>
                </a:solidFill>
                <a:latin typeface="Roboto Black"/>
                <a:cs typeface="Roboto Black"/>
              </a:rPr>
              <a:t>QUIZ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E2841"/>
                </a:solidFill>
                <a:latin typeface="Roboto Black"/>
                <a:cs typeface="Roboto Black"/>
              </a:rPr>
              <a:t>Let's play Kahoot!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0E2841"/>
                </a:solidFill>
                <a:latin typeface="Roboto"/>
                <a:cs typeface="Roboto"/>
              </a:rPr>
              <a:t>Open  kahoot.it  and join with the game 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3C3939"/>
                </a:solidFill>
                <a:latin typeface="Roboto"/>
                <a:cs typeface="Roboto"/>
              </a:rPr>
              <a:t>Show what you learned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21408"/>
            <a:ext cx="47548" cy="96012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2" y="219456"/>
            <a:ext cx="2148840" cy="770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uture lab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00FF"/>
      </a:accent1>
      <a:accent2>
        <a:srgbClr val="000077"/>
      </a:accent2>
      <a:accent3>
        <a:srgbClr val="00FFFF"/>
      </a:accent3>
      <a:accent4>
        <a:srgbClr val="E8E8E8"/>
      </a:accent4>
      <a:accent5>
        <a:srgbClr val="FFFFFF"/>
      </a:accent5>
      <a:accent6>
        <a:srgbClr val="DBE9F7"/>
      </a:accent6>
      <a:hlink>
        <a:srgbClr val="0000FF"/>
      </a:hlink>
      <a:folHlink>
        <a:srgbClr val="000000"/>
      </a:folHlink>
    </a:clrScheme>
    <a:fontScheme name="Future lab theme">
      <a:majorFont>
        <a:latin typeface="Roboto Black"/>
        <a:ea typeface=""/>
        <a:cs typeface=""/>
      </a:majorFont>
      <a:minorFont>
        <a:latin typeface="Roboto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1129</Words>
  <Application>Microsoft Macintosh PowerPoint</Application>
  <PresentationFormat>Widescreen</PresentationFormat>
  <Paragraphs>169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Courier New</vt:lpstr>
      <vt:lpstr>Roboto</vt:lpstr>
      <vt:lpstr>Roboto Black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Yehor Iermoliuk</cp:lastModifiedBy>
  <cp:revision>4</cp:revision>
  <dcterms:created xsi:type="dcterms:W3CDTF">2013-01-27T09:14:16Z</dcterms:created>
  <dcterms:modified xsi:type="dcterms:W3CDTF">2026-07-17T13:05:08Z</dcterms:modified>
  <cp:category/>
</cp:coreProperties>
</file>